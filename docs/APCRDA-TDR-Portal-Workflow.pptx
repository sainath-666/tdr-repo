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</p:sldIdLst>
  <p:notesMasterIdLst>
    <p:notesMasterId r:id="rId6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Application Workflow &amp; System Architecture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Transferable Development Rights Management System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Andhra Pradesh Capital Region Development Authority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Domain Context — APCRDA, Amaravati LPS &amp; TDR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Application Overview &amp; Technology Stack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System Architecture (Layered, Request Flow, Deployment)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User Roles &amp; 5-Stage Approval Chain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Authentication Architecture (Farmer OTP + Official Supabase)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Portal Routes &amp; Middleware Protection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Bond Lifecycle &amp; End-to-End Workflow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Security — Cerbos, Fabric Blockchain &amp; Audit Trail</a:t>
            </a:r>
            <a:endParaRPr lang="en-US" sz="14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API Routes, Database Schema &amp; User Journeys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Context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APCRDA &amp; Amaravati LPS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APCRDA — Andhra Pradesh Capital Region Development Authority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Greenfield capital Amaravati developed after AP bifurcation (2014)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Land Pooling Scheme: 25,000+ farmers pooled 30,000+ acres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Govt. promised developed plots in proportionate ratio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Portal Purpose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Digital TDR certificate management for land pooling beneficiaries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APCRDA &amp; Amaravati LPS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Multi-level approval pipeline with blockchain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TDR?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Definition (APCRDA Act 2014)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Right to transfer development potential of a plot — expressed as permissible built space (FSI/FAR)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 Practice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Farmers who pooled land receive TDR bonds as compensation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TDR transferable to receiving districts for increased density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bond: holder, land, survey no., extent, ratio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TDR?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After 5-stage approval → ACTIVE certificate (PDF + QR)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Overview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at a Glance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Details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Name: apcrda-tdr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14 Web App (App Router)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Users: Farmers + 5 govt. official levels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Bonds synced as DRAFT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Farmers do NOT submit in-app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5-stage approval pipeline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auth: OTP + Supabase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Cerbos policy authorization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Fabric blockchain audit trail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certificate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Next.js 14 · React 18 · TypeScript · Tailwind CSS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 · Prisma ORM · Supabase Auth (officials)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Cerbos PDP · HMAC sessions · bcrypt OTP · Aadhaar encryption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Blockchain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Hyperledger Fabric chaincode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Documents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PDFKit · QRCode · IPFS CID · Supabase Storage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Infrastructure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Compose · Cerbos · Fabric network · PWA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73152" cy="66385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87552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987552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Pages · React Components · Farmer/Official Dashboards · BondReviewPanel · Public Portal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57825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687982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F0FD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687982"/>
            <a:ext cx="73152" cy="66385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42846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Middleware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742846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middleware.ts (auth guard) · API Routes · getCurrentUser() · Route access control · Idle timeout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333549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443277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F0FDF4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43277"/>
            <a:ext cx="73152" cy="66385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98141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2498141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approval-handler.ts · bond-state-machine.ts · approval-chain.ts · certificate/mint.ts · audit.ts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3088843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198571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FFFB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198571"/>
            <a:ext cx="73152" cy="66385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53435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Blockchain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3253435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Cerbos PDP (withCerbos) · Fabric Gateway (createBond, recordApproval, mintCertificate)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384413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953866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F5F3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53866"/>
            <a:ext cx="73152" cy="66385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008730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040" y="4008730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 · PostgreSQL · Supabase Auth · Document Storage · Hash-chained Audit Log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863340" y="111556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3340" y="11612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(Client)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0" y="175564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63340" y="193852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CCFBF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3340" y="19842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63340" y="245973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Route Guard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0" y="2578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63340" y="276148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D1FAE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63340" y="28072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0" y="34015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17420" y="35844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17420" y="36301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863340" y="35844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63340" y="36301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09260" y="35844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9260" y="36301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0" y="42245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17420" y="440740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17420" y="44531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(Prisma)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863340" y="440740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63340" y="44531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(Hash Chain)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09260" y="440740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09260" y="44531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Store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(Citizen)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/farmer-login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/api/auth/otp/request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 /api/auth/otp/verify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citizen_session cookie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HMAC-signed (not Supabase)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Protected: /farmer/*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(Government)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/official-login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signInWithPassword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+ app_metadata.role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hook: role, district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Protected: /deo/*, /official/*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Google SSO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Infrastructure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932688"/>
            <a:ext cx="73152" cy="66385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987552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Tier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987552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App (npm run dev / Docker) · PWA · API Routes · Server Components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0" y="1578254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687982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F0FDF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687982"/>
            <a:ext cx="73152" cy="66385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42846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742846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(officials) · Citizen HMAC Sessions (farmers) · JWT Custom Claims Hook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2333549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443277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FFFB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43277"/>
            <a:ext cx="73152" cy="66385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98141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Blockchain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2498141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Cerbos PDP Container (docker compose) · Hyperledger Fabric Network (fabric/network/)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297680" y="3088843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198571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F5F3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198571"/>
            <a:ext cx="73152" cy="66385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253435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06040" y="3253435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(Prisma) · Supabase Storage (documents) · Local/IPFS (certificates)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384413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3953866"/>
            <a:ext cx="8321040" cy="663854"/>
          </a:xfrm>
          <a:prstGeom prst="roundRect">
            <a:avLst>
              <a:gd name="adj" fmla="val 8264"/>
            </a:avLst>
          </a:prstGeom>
          <a:solidFill>
            <a:srgbClr val="FEF2F2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953866"/>
            <a:ext cx="73152" cy="66385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4008730"/>
            <a:ext cx="201168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06040" y="4008730"/>
            <a:ext cx="5943600" cy="554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Adapter (land records, KYC, GIS) · SMS Gateway (OTP) · OAuth (SSO)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Processing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863340" y="111556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3340" y="116128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BondReviewPanel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(UI)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389120" y="175564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63340" y="193852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CCFBF1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63340" y="198424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/api/approvals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/[bondId]/approve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0" y="257860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17420" y="276148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D1FAE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17420" y="28072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getCurrentUser()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63340" y="276148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D1FAE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63340" y="28072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bond-state-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09260" y="276148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D1FAE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9260" y="280720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Cerbos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withCerbos()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0" y="34015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17420" y="35844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17420" y="36301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fabric.record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863340" y="35844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63340" y="36301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09260" y="358444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EF3C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09260" y="363016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writeAudit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422452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63340" y="4407408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EDE9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63340" y="4453128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Mint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L4 Approve)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63340" y="4928616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prepareBondCertificate → ACTIVE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— Entity Relationships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TdrBond (central)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1:1 BondHolder · 1:1 BondLandDetail · 1:N BondDocument · 1:N ApprovalStep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 (phone, no Supabase) · Official (Supabase-synced, role + district)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&amp; Security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AuditLog (hash-chained) · OtpRequest · IdempotencyCache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— Entity Relationships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Master Data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Village (GIS master) · 5 document types per bond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Authentication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system: HMAC citizen cookies + Supabase JWT with custom claims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Authorization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Cerbos PDP — district-scoped YAML policies for bond, approval, cert, document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Protection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Aadhaar hashed/encrypted · bcrypt OTP · HMAC approval signatures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 &amp; Integrity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Hash-chained audit log · Fabric blockchain · cerbosCallId + fabricTxId join keys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Approval Chain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Capabilities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18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31620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2062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bonds, download ACTIVE certificates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 / SURVEYOR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/deo/dashboard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review of DRAFT bonds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TAHSILDAR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Approve/reject/return at PENDING_L1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Approve/reject/return at PENDING_L2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DIRECTOR_LANDS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Approve/reject/return at PENDING_L3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approve at L4; mint certificate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Approval Chain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19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1 — DEO (Intake)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→ Approve: PENDING_L1 | Reject: REJECTED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2 — Tahsildar (L1)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PENDING_L1 → Approve/Reject/Return to DRAFT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3 — SDC (L2)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PENDING_L2 → Approve/Reject/Return to DRAFT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 Approval Chain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4 — Director (L3)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PENDING_L3 → Approve/Reject/Return to DRAFT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Stage 5 — Commissioner (L4)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PENDING_L4 → Approve: ACTIVE (cert mint) | Reject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Pipeline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status progression through the 5-stage pipeline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63240" y="15041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(Tahsildar)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97880" y="15041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29844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34416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(SDC)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(Director)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20071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4612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PENDING_L4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(Commissioner)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97880" y="200710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1801368"/>
            <a:ext cx="265176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6080760" y="1847088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(Certificate)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System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Authentication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Systems?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Farmers: no govt. email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Lightweight OTP login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HMAC cookie session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Supabase account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Auth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Govt. employees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email/password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JWT role claims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Optional Google SSO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Login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Visit /farmer-login — enter phone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POST /api/auth/otp/request — lookup farmer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POST /api/auth/otp/verify — verify OTP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 HMAC-signed citizen_session cookie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Middleware validates → /farmer/dashboard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Demo: 9666666666 / OTP 123456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Login Flow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Visit /official-login — email + password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Supabase signInWithPassword()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JWT claims: role, district_code, employee_id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Redirect: DEO → /deo/dashboard | Others → /official/dashboard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Provisioning: npm run auth:sync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Demo: deo001@apcrda.org / Test@123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&amp; Route Protection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(no auth)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/, /farmer-login, /official-login, /verify, /tdr-bank, /calculator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Farmer (citizen_session)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/farmer/*, /api/bonds/farmer/*, /api/dashboard/farmer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Official (Supabase JWT)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&amp; Route Protection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/deo/*, /official/*, /api/approvals/*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Security: 30-min idle timeout · role-based checkRouteAccess()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Routes &amp; Pages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Routes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27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40180"/>
          <a:ext cx="83210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760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— APCRDA &amp; TDR info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/farmer-login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OTP 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/official-login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/verify/[tdrNumber]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certificate verify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/tdr-bank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TDR bank listing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/calculator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TDR calculator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status lookup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Routes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28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95628"/>
          <a:ext cx="83210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45720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 list &amp; status tracker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/farmer/certificates/[id]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download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/deo/dashboard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bond queue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/deo/bonds/[id]/review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Intake review 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/official/dashboard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 queue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/official/bonds/[id]/review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panel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Lifecycle</a:t>
            </a:r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Status State Machine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29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Forward path: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 → PENDING_L1 → L2 → L3 → L4 → ACTIVE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Terminal states: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REJECTED (any stage) · REVOKED (Commissioner from ACTIVE)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Status State Machine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path (L1–L3 only):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L1–L3 official can return bond to DRAFT with remarks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Transition Rules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31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76756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645920"/>
                <a:gridCol w="20116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Approve/Reject/Return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Tahsildar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 / REJECTED / DRAFT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Approve/Reject/Return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 / REJECTED / DRAFT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Approve/Reject/Return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 / REJECTED / DRAFT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PENDING_L4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Approve/Reject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/ REJECTED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Data Model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TdrBond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tdrNumber, status, farmerId, fabricTxId, certificate fields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BondHolder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Name, Aadhaar (encrypted), address, district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BondLandDetail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Data Model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Survey no., village, extent, TDR ratio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BondDocument (×5)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Ownership, Aadhaar, Plot, TDR copy, Sketch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ApprovalStep (L1–L4)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Decision, signature, cerbos/fabric IDs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External Bond Sync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Bonds synced from APCRDA (not created in-app)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apcrda-adapter.ts: land records, KYC, GIS data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Created as DRAFT with holder, land, 5 documents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 pending ApprovalSteps (L1–L4)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Dev: npm run db:seed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DEO Intake Review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UI: /deo/dashboard → /deo/bonds/[id]/review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Reviews holder, land, all 5 documents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PENDING_L1 + fabric.createBond()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DEO Intake Review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REJECTED (no return at intake)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Cerbos check → DB update → Audit: INTAKE_APPROVED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L1 to L4 Pipeline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L1 Tahsildar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PENDING_L2 | Reject | Return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 SDC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PENDING_L3 | Reject | Return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L3 Director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L1 to L4 Pipeline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PENDING_L4 | Reject | Return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L4 Commissioner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→ ACTIVE | Reject (no return)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Each: Cerbos → fabric.recordApproval() → DB → Audit log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Certificate Minting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39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Triggered on Commissioner L4 Approve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prepareBondCertificate(): PDF + QR code → /verify/[tdrNumber]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fabric.mintCertificate() on blockchain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DB: certificateIpfsCid, certificateStoragePath, mintedAt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Audit: L4_APPROVED → CERT_MINTED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Farmer Certificate Access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OTP login → /farmer/dashboard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View ACTIVE bonds &amp; status tracker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/farmer/certificates/[id] → download PDF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verify: /verify/[tdrNumber] (no login)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Blockchain</a:t>
            </a:r>
            <a:endParaRPr lang="en-US" sz="2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Cerbos Authorization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action calls withCerbos() before execution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Policies (cerbos/policies/)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resource_bond · resource_approval · resource_certificate · resource_document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derived_roles.yaml — district-scoped roles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ALLOW/DENY → cerbosCallId in audit log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Hyperledger Fabric Integration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42</a:t>
            </a:r>
            <a:endParaRPr lang="en-US" sz="8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15084"/>
          <a:ext cx="8321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3931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CreateBond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 intake approve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fabric.createBond()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RecordApproval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L1–L4 decision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fabric.recordApproval()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MintCertificate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Commissioner approve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fabric.mintCertificate()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GetBond / History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Query/audit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fabric.getBond()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Network Setup (1/2)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Network: fabric/network/ (Docker Compose)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Chaincode: fabric/chaincode/tdr-bond-cc/index.js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Bootstrap: npm run fabric:bootstrap → fabric:deploy-cc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Mock mode: FABRIC_MOCK_MODE=true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Network Setup (2/2)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Simulates blockchain; business logic runs normally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Database</a:t>
            </a:r>
            <a:endParaRPr lang="en-US" sz="2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— Authentication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45</a:t>
            </a:r>
            <a:endParaRPr lang="en-US" sz="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860804"/>
          <a:ext cx="83210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00400"/>
                <a:gridCol w="42976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/api/auth/otp/request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OTP 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/api/auth/otp/verify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+ citizen session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/api/auth/official/login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Supabase login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/api/auth/logout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 both auth types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— Bonds &amp; Approvals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46</a:t>
            </a:r>
            <a:endParaRPr lang="en-US" sz="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27632"/>
          <a:ext cx="83210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00400"/>
                <a:gridCol w="42976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/api/bonds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bond list (role-scoped)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/api/bonds/farmer/mine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bonds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/api/approvals/queue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approval queue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/api/approvals/[id]/approve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bond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/api/approvals/[id]/reject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 bond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/api/approvals/[id]/return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to DEO (L1–L3)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 — Certificates &amp; Admin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47</a:t>
            </a:r>
            <a:endParaRPr lang="en-US" sz="8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627632"/>
          <a:ext cx="83210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200400"/>
                <a:gridCol w="429768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/api/certificates/[id]/verify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verification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/api/certificates/[id]/download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download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/api/dashboard/farmer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Farmer dashboard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/api/dashboard/official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dashboard data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health check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/api/users/officials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 officials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— Key Entities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48</a:t>
            </a:r>
            <a:endParaRPr lang="en-US" sz="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76756"/>
          <a:ext cx="83210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493776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TdrBond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tdr_bonds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bond record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BondHolder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bond_holders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Holder identity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BondLandDetail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bond_land_details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&amp; TDR extent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BondDocument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bond_documents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supporting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ApprovalStep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approval_steps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L1–L4 decisions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 / Farmer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officials / farmers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accounts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audit_log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Hash-chained audit trail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28016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1148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Operations</a:t>
            </a:r>
            <a:endParaRPr lang="en-US" sz="2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Audit Trail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49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Hash-chained log: src/lib/audit.ts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Events recorded: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Auth (login/logout) · Intake (INTAKE_APPROVED/REJECTED)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 (L1–L4 APPROVED/REJECTED/RETURNED) · CERT_MINTED</a:t>
            </a:r>
            <a:endParaRPr lang="en-US" sz="12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Join keys: cerbosCallId + fabricTxId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Setup &amp; Design Decisions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50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Commands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run dev — start server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run db:seed — seed data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run auth:sync — Supabase sync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run stack:up — DB + Cerbos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npm run fabric:bootstrap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 auth (farmer + official)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in-app bond creation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District-scoped queues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 workflow L1–L3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Mock-first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— Farmer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51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8321040" cy="3685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/farmer-login → OTP verify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Dashboard — view all bonds &amp; status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Track: DRAFT → L1 → L2 → L3 → L4 → ACTIVE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Download certificate PDF when ACTIVE</a:t>
            </a:r>
            <a:endParaRPr lang="en-US" sz="1300" dirty="0"/>
          </a:p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Share QR for public verification</a:t>
            </a:r>
            <a:endParaRPr lang="en-US" sz="13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27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28016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Journeys — Officials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48280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 |  52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(Intake)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→ /deo/dashboard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DRAFT bonds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holder, land, docs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→ enters pipeline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 → REJECTED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32688"/>
            <a:ext cx="4023360" cy="3685032"/>
          </a:xfrm>
          <a:prstGeom prst="roundRect">
            <a:avLst>
              <a:gd name="adj" fmla="val 1241"/>
            </a:avLst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24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L1–L4 Officials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344168"/>
            <a:ext cx="374904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Login → /official/dashboard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Role-scoped queue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Review bond details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Approve / Reject / Return</a:t>
            </a:r>
            <a:endParaRPr lang="en-US" sz="11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L4 Approve → cert mint</a:t>
            </a:r>
            <a:endParaRPr lang="en-US" sz="11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APCRDA TDR Portal — Workflow &amp; Architecture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APCRDA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APCRDA TDR Portal — Complete Application Workflow</dc:title>
  <dc:subject>TDR Portal Application Workflow &amp; Architecture</dc:subject>
  <dc:creator>APCRDA TDR Portal Team</dc:creator>
  <cp:lastModifiedBy>APCRDA TDR Portal Team</cp:lastModifiedBy>
  <cp:revision>1</cp:revision>
  <dcterms:created xsi:type="dcterms:W3CDTF">2026-07-06T07:36:47Z</dcterms:created>
  <dcterms:modified xsi:type="dcterms:W3CDTF">2026-07-06T07:36:47Z</dcterms:modified>
</cp:coreProperties>
</file>